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5976EFD-90FF-41B5-B365-EC135C68C595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3F12FE-95D7-4B4B-A45F-60F606546E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863AF8-92B3-43CB-A77D-FAA5D0B03D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BF8659-351A-477B-8F9A-6303D6A86D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7DE4C0-57B0-4F96-89A9-0A5B606010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B087F4-5167-4D36-AEA8-B2E1F7185E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80E714-ED37-4AEA-9342-A2AB0DFC18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573668-7BCC-4BCC-B72B-AD9CA0D908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5DBC43-5D3B-4A95-A64A-C893752C47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763C7-3550-4C8B-A598-6B6BA23605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6E3B00-E52B-4347-BA4D-FBD323C10A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FBF91C-1DB8-43EA-96D1-400E997B3D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ABE299-C522-4395-9F54-0D50D9758D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7.png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966960" y="822960"/>
            <a:ext cx="822600" cy="822600"/>
          </a:xfrm>
          <a:prstGeom prst="ellipse">
            <a:avLst/>
          </a:prstGeom>
          <a:solidFill>
            <a:srgbClr val="2B358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1064240" y="1737360"/>
            <a:ext cx="456840" cy="456840"/>
          </a:xfrm>
          <a:prstGeom prst="ellipse">
            <a:avLst/>
          </a:prstGeom>
          <a:solidFill>
            <a:srgbClr val="2B358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0607040" y="2743200"/>
            <a:ext cx="319680" cy="319680"/>
          </a:xfrm>
          <a:prstGeom prst="ellipse">
            <a:avLst/>
          </a:prstGeom>
          <a:solidFill>
            <a:srgbClr val="2B358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1521440" y="3657600"/>
            <a:ext cx="548280" cy="548280"/>
          </a:xfrm>
          <a:prstGeom prst="ellipse">
            <a:avLst/>
          </a:prstGeom>
          <a:solidFill>
            <a:srgbClr val="2B358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0241280" y="4663440"/>
            <a:ext cx="411120" cy="411120"/>
          </a:xfrm>
          <a:prstGeom prst="ellipse">
            <a:avLst/>
          </a:prstGeom>
          <a:solidFill>
            <a:srgbClr val="2B358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720000" y="612000"/>
            <a:ext cx="851760" cy="89280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Image 0" descr="/tmp/claude-1000/-home-shadowwhiteg-Downloads-Orquestrador-de-agentes/ae68fd12-d51b-469f-a867-73644c1df49b/scratchpad/pptx/icons/network_white.png"/>
          <p:cNvPicPr/>
          <p:nvPr/>
        </p:nvPicPr>
        <p:blipFill>
          <a:blip r:embed="rId1"/>
          <a:stretch/>
        </p:blipFill>
        <p:spPr>
          <a:xfrm>
            <a:off x="822960" y="756000"/>
            <a:ext cx="617040" cy="61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 6"/>
          <p:cNvSpPr/>
          <p:nvPr/>
        </p:nvSpPr>
        <p:spPr>
          <a:xfrm>
            <a:off x="1691640" y="7772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PLATAFORMA DE AUTOMAÇÃO COM IA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822960" y="2331720"/>
            <a:ext cx="9600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Orquestrador de Agentes</a:t>
            </a:r>
            <a:endParaRPr lang="pt-BR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822960" y="3566160"/>
            <a:ext cx="8686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Sua equipe de especialistas em Inteligência Artificial —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coordenada, auditável e sob seu controle total.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822960" y="5989320"/>
            <a:ext cx="45360" cy="456840"/>
          </a:xfrm>
          <a:prstGeom prst="rect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1005840" y="59436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AA6D6"/>
                </a:solidFill>
                <a:effectLst/>
                <a:uFillTx/>
                <a:latin typeface="Calibri"/>
                <a:ea typeface="Calibri"/>
              </a:rPr>
              <a:t>Como funciona, o que resolve e por que importa para o negócio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4864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O desafio de hoje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548640" y="10515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Toda empresa quer usar Inteligência Artificial. Poucas conseguem usá-la com controle.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548640" y="1874520"/>
            <a:ext cx="2486880" cy="3977280"/>
          </a:xfrm>
          <a:prstGeom prst="roundRect">
            <a:avLst>
              <a:gd name="adj" fmla="val 4412"/>
            </a:avLst>
          </a:prstGeom>
          <a:solidFill>
            <a:srgbClr val="F4F6FC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3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804600" y="2167200"/>
            <a:ext cx="548280" cy="548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/tmp/claude-1000/-home-shadowwhiteg-Downloads-Orquestrador-de-agentes/ae68fd12-d51b-469f-a867-73644c1df49b/scratchpad/pptx/icons/grid_white.png"/>
          <p:cNvPicPr/>
          <p:nvPr/>
        </p:nvPicPr>
        <p:blipFill>
          <a:blip r:embed="rId1"/>
          <a:stretch/>
        </p:blipFill>
        <p:spPr>
          <a:xfrm>
            <a:off x="947160" y="2309760"/>
            <a:ext cx="263160" cy="26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4"/>
          <p:cNvSpPr/>
          <p:nvPr/>
        </p:nvSpPr>
        <p:spPr>
          <a:xfrm>
            <a:off x="804600" y="2926080"/>
            <a:ext cx="1974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Iniciativas espalhadas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804600" y="3657600"/>
            <a:ext cx="19746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Cada time testa uma ferramenta de IA diferente, sem padrão nem integração entre elas.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3291840" y="1874520"/>
            <a:ext cx="2486880" cy="3977280"/>
          </a:xfrm>
          <a:prstGeom prst="roundRect">
            <a:avLst>
              <a:gd name="adj" fmla="val 4412"/>
            </a:avLst>
          </a:prstGeom>
          <a:solidFill>
            <a:srgbClr val="F4F6FC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3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3547800" y="2167200"/>
            <a:ext cx="548280" cy="548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1" descr="/tmp/claude-1000/-home-shadowwhiteg-Downloads-Orquestrador-de-agentes/ae68fd12-d51b-469f-a867-73644c1df49b/scratchpad/pptx/icons/alert_white.png"/>
          <p:cNvPicPr/>
          <p:nvPr/>
        </p:nvPicPr>
        <p:blipFill>
          <a:blip r:embed="rId2"/>
          <a:stretch/>
        </p:blipFill>
        <p:spPr>
          <a:xfrm>
            <a:off x="3690360" y="2309760"/>
            <a:ext cx="263160" cy="26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8"/>
          <p:cNvSpPr/>
          <p:nvPr/>
        </p:nvSpPr>
        <p:spPr>
          <a:xfrm>
            <a:off x="3547800" y="2926080"/>
            <a:ext cx="1974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Zero visibilidade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3547800" y="3657600"/>
            <a:ext cx="19746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Ninguém sabe o que a IA respondeu, quanto custou ou por que errou — até o cliente reclamar.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6035040" y="1874520"/>
            <a:ext cx="2486880" cy="3977280"/>
          </a:xfrm>
          <a:prstGeom prst="roundRect">
            <a:avLst>
              <a:gd name="adj" fmla="val 4412"/>
            </a:avLst>
          </a:prstGeom>
          <a:solidFill>
            <a:srgbClr val="F4F6FC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3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6291000" y="2167200"/>
            <a:ext cx="548280" cy="548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2" descr="/tmp/claude-1000/-home-shadowwhiteg-Downloads-Orquestrador-de-agentes/ae68fd12-d51b-469f-a867-73644c1df49b/scratchpad/pptx/icons/lock_white.png"/>
          <p:cNvPicPr/>
          <p:nvPr/>
        </p:nvPicPr>
        <p:blipFill>
          <a:blip r:embed="rId3"/>
          <a:stretch/>
        </p:blipFill>
        <p:spPr>
          <a:xfrm>
            <a:off x="6433560" y="2309760"/>
            <a:ext cx="263160" cy="26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2"/>
          <p:cNvSpPr/>
          <p:nvPr/>
        </p:nvSpPr>
        <p:spPr>
          <a:xfrm>
            <a:off x="6291000" y="2926080"/>
            <a:ext cx="1974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Risco de segurança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6291000" y="3657600"/>
            <a:ext cx="19746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Chaves de acesso e dados sensíveis circulando sem controle, sem papéis, sem auditoria.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8778240" y="1874520"/>
            <a:ext cx="2486880" cy="3977280"/>
          </a:xfrm>
          <a:prstGeom prst="roundRect">
            <a:avLst>
              <a:gd name="adj" fmla="val 4412"/>
            </a:avLst>
          </a:prstGeom>
          <a:solidFill>
            <a:srgbClr val="F4F6FC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3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9034200" y="2167200"/>
            <a:ext cx="548280" cy="548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3" descr="/tmp/claude-1000/-home-shadowwhiteg-Downloads-Orquestrador-de-agentes/ae68fd12-d51b-469f-a867-73644c1df49b/scratchpad/pptx/icons/server_white.png"/>
          <p:cNvPicPr/>
          <p:nvPr/>
        </p:nvPicPr>
        <p:blipFill>
          <a:blip r:embed="rId4"/>
          <a:stretch/>
        </p:blipFill>
        <p:spPr>
          <a:xfrm>
            <a:off x="9176760" y="2309760"/>
            <a:ext cx="263160" cy="26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16"/>
          <p:cNvSpPr/>
          <p:nvPr/>
        </p:nvSpPr>
        <p:spPr>
          <a:xfrm>
            <a:off x="9034200" y="2926080"/>
            <a:ext cx="1974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Refém de um fornecedor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9034200" y="3657600"/>
            <a:ext cx="19746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Migrar de provedor de IA depois de meses de integração custa caro e trava o time.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01 · O problema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7985520" y="6473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Orquestrador de Agentes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4864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A solução, em uma frase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"/>
          <p:cNvSpPr/>
          <p:nvPr/>
        </p:nvSpPr>
        <p:spPr>
          <a:xfrm>
            <a:off x="548640" y="1234440"/>
            <a:ext cx="11063880" cy="141696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914400" y="1234440"/>
            <a:ext cx="103323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Pense num gerente que nunca dorme: ele entende o pedido, chama o especialista certo da equipe, confere o trabalho e entrega a resposta — tudo em segundos.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548640" y="3063240"/>
            <a:ext cx="603000" cy="60300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/tmp/claude-1000/-home-shadowwhiteg-Downloads-Orquestrador-de-agentes/ae68fd12-d51b-469f-a867-73644c1df49b/scratchpad/pptx/icons/compass_white.png"/>
          <p:cNvPicPr/>
          <p:nvPr/>
        </p:nvPicPr>
        <p:blipFill>
          <a:blip r:embed="rId1"/>
          <a:stretch/>
        </p:blipFill>
        <p:spPr>
          <a:xfrm>
            <a:off x="705600" y="322020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4"/>
          <p:cNvSpPr/>
          <p:nvPr/>
        </p:nvSpPr>
        <p:spPr>
          <a:xfrm>
            <a:off x="1325880" y="30358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O Orquestrador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1325880" y="3364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3D5AFE"/>
                </a:solidFill>
                <a:effectLst/>
                <a:uFillTx/>
                <a:latin typeface="Calibri"/>
                <a:ea typeface="Calibri"/>
              </a:rPr>
              <a:t>é o gerente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548640" y="3840480"/>
            <a:ext cx="3520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Recebe a demanda, entende o que precisa ser feito e decide quem deve resolver.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4343400" y="3063240"/>
            <a:ext cx="603000" cy="60300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1" descr="/tmp/claude-1000/-home-shadowwhiteg-Downloads-Orquestrador-de-agentes/ae68fd12-d51b-469f-a867-73644c1df49b/scratchpad/pptx/icons/users_white.png"/>
          <p:cNvPicPr/>
          <p:nvPr/>
        </p:nvPicPr>
        <p:blipFill>
          <a:blip r:embed="rId2"/>
          <a:stretch/>
        </p:blipFill>
        <p:spPr>
          <a:xfrm>
            <a:off x="4500360" y="322020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8"/>
          <p:cNvSpPr/>
          <p:nvPr/>
        </p:nvSpPr>
        <p:spPr>
          <a:xfrm>
            <a:off x="5120640" y="30358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Os Agentes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5120640" y="3364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3D5AFE"/>
                </a:solidFill>
                <a:effectLst/>
                <a:uFillTx/>
                <a:latin typeface="Calibri"/>
                <a:ea typeface="Calibri"/>
              </a:rPr>
              <a:t>são os especialistas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4343400" y="3840480"/>
            <a:ext cx="3520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Cada um domina um assunto — vendas, suporte, financeiro — e pode coordenar sua própria equipe.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8138160" y="3063240"/>
            <a:ext cx="603000" cy="60300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2" descr="/tmp/claude-1000/-home-shadowwhiteg-Downloads-Orquestrador-de-agentes/ae68fd12-d51b-469f-a867-73644c1df49b/scratchpad/pptx/icons/target_white.png"/>
          <p:cNvPicPr/>
          <p:nvPr/>
        </p:nvPicPr>
        <p:blipFill>
          <a:blip r:embed="rId3"/>
          <a:stretch/>
        </p:blipFill>
        <p:spPr>
          <a:xfrm>
            <a:off x="8295120" y="322020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12"/>
          <p:cNvSpPr/>
          <p:nvPr/>
        </p:nvSpPr>
        <p:spPr>
          <a:xfrm>
            <a:off x="8915400" y="30358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Os Subagentes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8915400" y="3364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3D5AFE"/>
                </a:solidFill>
                <a:effectLst/>
                <a:uFillTx/>
                <a:latin typeface="Calibri"/>
                <a:ea typeface="Calibri"/>
              </a:rPr>
              <a:t>executam a tarefa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8138160" y="3840480"/>
            <a:ext cx="3520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Focados e objetivos, cuidam da parte específica do trabalho e devolvem o resultado.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548640" y="58064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A mesma lógica de uma equipe bem organizada — só que disponível 24 horas por dia, a um custo muito menor.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02 · A solução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7985520" y="6473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Orquestrador de Agentes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4864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Uma equipe com hierarquia clara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48640" y="10515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Cada pedido percorre um caminho definido — nada é decidido no improviso.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4724280" y="1828800"/>
            <a:ext cx="2742840" cy="82260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/tmp/claude-1000/-home-shadowwhiteg-Downloads-Orquestrador-de-agentes/ae68fd12-d51b-469f-a867-73644c1df49b/scratchpad/pptx/icons/compass_white.png"/>
          <p:cNvPicPr/>
          <p:nvPr/>
        </p:nvPicPr>
        <p:blipFill>
          <a:blip r:embed="rId1"/>
          <a:stretch/>
        </p:blipFill>
        <p:spPr>
          <a:xfrm>
            <a:off x="4888800" y="20116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3"/>
          <p:cNvSpPr/>
          <p:nvPr/>
        </p:nvSpPr>
        <p:spPr>
          <a:xfrm>
            <a:off x="5410080" y="182880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Orquestrador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 flipV="1">
            <a:off x="3306600" y="2651760"/>
            <a:ext cx="2788920" cy="594360"/>
          </a:xfrm>
          <a:prstGeom prst="line">
            <a:avLst/>
          </a:prstGeom>
          <a:ln w="19050">
            <a:solidFill>
              <a:srgbClr val="AEB8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6095520" y="2651760"/>
            <a:ext cx="360" cy="594360"/>
          </a:xfrm>
          <a:prstGeom prst="line">
            <a:avLst/>
          </a:prstGeom>
          <a:ln w="19050">
            <a:solidFill>
              <a:srgbClr val="AEB8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6095520" y="2651760"/>
            <a:ext cx="2788920" cy="594360"/>
          </a:xfrm>
          <a:prstGeom prst="line">
            <a:avLst/>
          </a:prstGeom>
          <a:ln w="19050">
            <a:solidFill>
              <a:srgbClr val="AEB8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1675800" y="3240000"/>
            <a:ext cx="2331360" cy="776880"/>
          </a:xfrm>
          <a:prstGeom prst="roundRect">
            <a:avLst>
              <a:gd name="adj" fmla="val 10588"/>
            </a:avLst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1" descr="/tmp/claude-1000/-home-shadowwhiteg-Downloads-Orquestrador-de-agentes/ae68fd12-d51b-469f-a867-73644c1df49b/scratchpad/pptx/icons/users_white.png"/>
          <p:cNvPicPr/>
          <p:nvPr/>
        </p:nvPicPr>
        <p:blipFill>
          <a:blip r:embed="rId2"/>
          <a:stretch/>
        </p:blipFill>
        <p:spPr>
          <a:xfrm>
            <a:off x="1956240" y="3432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8"/>
          <p:cNvSpPr/>
          <p:nvPr/>
        </p:nvSpPr>
        <p:spPr>
          <a:xfrm>
            <a:off x="2467080" y="3246120"/>
            <a:ext cx="1672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Agente · Vendas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>
            <a:off x="4929840" y="3246120"/>
            <a:ext cx="2331360" cy="776880"/>
          </a:xfrm>
          <a:prstGeom prst="roundRect">
            <a:avLst>
              <a:gd name="adj" fmla="val 10588"/>
            </a:avLst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2" descr="/tmp/claude-1000/-home-shadowwhiteg-Downloads-Orquestrador-de-agentes/ae68fd12-d51b-469f-a867-73644c1df49b/scratchpad/pptx/icons/users_white.png"/>
          <p:cNvPicPr/>
          <p:nvPr/>
        </p:nvPicPr>
        <p:blipFill>
          <a:blip r:embed="rId3"/>
          <a:stretch/>
        </p:blipFill>
        <p:spPr>
          <a:xfrm>
            <a:off x="5094000" y="34466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10"/>
          <p:cNvSpPr/>
          <p:nvPr/>
        </p:nvSpPr>
        <p:spPr>
          <a:xfrm>
            <a:off x="5568840" y="3246120"/>
            <a:ext cx="1672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Agente · Suporte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8232480" y="3246120"/>
            <a:ext cx="2331360" cy="776880"/>
          </a:xfrm>
          <a:prstGeom prst="roundRect">
            <a:avLst>
              <a:gd name="adj" fmla="val 10588"/>
            </a:avLst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3" descr="/tmp/claude-1000/-home-shadowwhiteg-Downloads-Orquestrador-de-agentes/ae68fd12-d51b-469f-a867-73644c1df49b/scratchpad/pptx/icons/users_white.png"/>
          <p:cNvPicPr/>
          <p:nvPr/>
        </p:nvPicPr>
        <p:blipFill>
          <a:blip r:embed="rId4"/>
          <a:stretch/>
        </p:blipFill>
        <p:spPr>
          <a:xfrm>
            <a:off x="8422920" y="34466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12"/>
          <p:cNvSpPr/>
          <p:nvPr/>
        </p:nvSpPr>
        <p:spPr>
          <a:xfrm>
            <a:off x="8830800" y="3246120"/>
            <a:ext cx="1672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Agente · Financeiro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3"/>
          <p:cNvSpPr/>
          <p:nvPr/>
        </p:nvSpPr>
        <p:spPr>
          <a:xfrm flipV="1">
            <a:off x="2000520" y="4017240"/>
            <a:ext cx="840960" cy="594360"/>
          </a:xfrm>
          <a:prstGeom prst="line">
            <a:avLst/>
          </a:prstGeom>
          <a:ln w="15875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4"/>
          <p:cNvSpPr/>
          <p:nvPr/>
        </p:nvSpPr>
        <p:spPr>
          <a:xfrm>
            <a:off x="1260000" y="4611600"/>
            <a:ext cx="148104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1260000" y="4611600"/>
            <a:ext cx="1481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Cotação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6"/>
          <p:cNvSpPr/>
          <p:nvPr/>
        </p:nvSpPr>
        <p:spPr>
          <a:xfrm>
            <a:off x="2841480" y="4017240"/>
            <a:ext cx="841320" cy="594360"/>
          </a:xfrm>
          <a:prstGeom prst="line">
            <a:avLst/>
          </a:prstGeom>
          <a:ln w="15875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7"/>
          <p:cNvSpPr/>
          <p:nvPr/>
        </p:nvSpPr>
        <p:spPr>
          <a:xfrm>
            <a:off x="2942280" y="4611600"/>
            <a:ext cx="148104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8"/>
          <p:cNvSpPr/>
          <p:nvPr/>
        </p:nvSpPr>
        <p:spPr>
          <a:xfrm>
            <a:off x="2942280" y="4611600"/>
            <a:ext cx="1481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Contrato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9"/>
          <p:cNvSpPr/>
          <p:nvPr/>
        </p:nvSpPr>
        <p:spPr>
          <a:xfrm flipV="1">
            <a:off x="5254560" y="4023360"/>
            <a:ext cx="840960" cy="594360"/>
          </a:xfrm>
          <a:prstGeom prst="line">
            <a:avLst/>
          </a:prstGeom>
          <a:ln w="15875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0"/>
          <p:cNvSpPr/>
          <p:nvPr/>
        </p:nvSpPr>
        <p:spPr>
          <a:xfrm>
            <a:off x="4514040" y="4617720"/>
            <a:ext cx="148104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1"/>
          <p:cNvSpPr/>
          <p:nvPr/>
        </p:nvSpPr>
        <p:spPr>
          <a:xfrm>
            <a:off x="4514040" y="4617720"/>
            <a:ext cx="1481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Dúvidas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2"/>
          <p:cNvSpPr/>
          <p:nvPr/>
        </p:nvSpPr>
        <p:spPr>
          <a:xfrm>
            <a:off x="6095520" y="4023360"/>
            <a:ext cx="841320" cy="594360"/>
          </a:xfrm>
          <a:prstGeom prst="line">
            <a:avLst/>
          </a:prstGeom>
          <a:ln w="15875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3"/>
          <p:cNvSpPr/>
          <p:nvPr/>
        </p:nvSpPr>
        <p:spPr>
          <a:xfrm>
            <a:off x="6196320" y="4617720"/>
            <a:ext cx="148104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4"/>
          <p:cNvSpPr/>
          <p:nvPr/>
        </p:nvSpPr>
        <p:spPr>
          <a:xfrm>
            <a:off x="6196320" y="4617720"/>
            <a:ext cx="1481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Reclamação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5"/>
          <p:cNvSpPr/>
          <p:nvPr/>
        </p:nvSpPr>
        <p:spPr>
          <a:xfrm flipV="1">
            <a:off x="8577720" y="4023000"/>
            <a:ext cx="840960" cy="594360"/>
          </a:xfrm>
          <a:prstGeom prst="line">
            <a:avLst/>
          </a:prstGeom>
          <a:ln w="15875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6"/>
          <p:cNvSpPr/>
          <p:nvPr/>
        </p:nvSpPr>
        <p:spPr>
          <a:xfrm>
            <a:off x="7740000" y="4617720"/>
            <a:ext cx="148104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7"/>
          <p:cNvSpPr/>
          <p:nvPr/>
        </p:nvSpPr>
        <p:spPr>
          <a:xfrm>
            <a:off x="7740000" y="4617720"/>
            <a:ext cx="1481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Boletos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8"/>
          <p:cNvSpPr/>
          <p:nvPr/>
        </p:nvSpPr>
        <p:spPr>
          <a:xfrm>
            <a:off x="9418680" y="4023000"/>
            <a:ext cx="841320" cy="594360"/>
          </a:xfrm>
          <a:prstGeom prst="line">
            <a:avLst/>
          </a:prstGeom>
          <a:ln w="15875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9"/>
          <p:cNvSpPr/>
          <p:nvPr/>
        </p:nvSpPr>
        <p:spPr>
          <a:xfrm>
            <a:off x="9422280" y="4617720"/>
            <a:ext cx="148104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0"/>
          <p:cNvSpPr/>
          <p:nvPr/>
        </p:nvSpPr>
        <p:spPr>
          <a:xfrm>
            <a:off x="9422280" y="4617720"/>
            <a:ext cx="1481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Relatórios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1"/>
          <p:cNvSpPr/>
          <p:nvPr/>
        </p:nvSpPr>
        <p:spPr>
          <a:xfrm>
            <a:off x="548640" y="598932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Orquestrador entende o pedido  →  Agente coordena a área certa  →  Subagente resolve na hora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2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03 · Como funciona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3"/>
          <p:cNvSpPr/>
          <p:nvPr/>
        </p:nvSpPr>
        <p:spPr>
          <a:xfrm>
            <a:off x="7985520" y="6473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Orquestrador de Agentes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54864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O que a plataforma entrega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48640" y="10515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Seis capacidades pensadas para quem precisa de IA confiável em produção.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548640" y="173736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1F3B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768240" y="1956960"/>
            <a:ext cx="475200" cy="475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tmp/claude-1000/-home-shadowwhiteg-Downloads-Orquestrador-de-agentes/ae68fd12-d51b-469f-a867-73644c1df49b/scratchpad/pptx/icons/server_white.png"/>
          <p:cNvPicPr/>
          <p:nvPr/>
        </p:nvPicPr>
        <p:blipFill>
          <a:blip r:embed="rId1"/>
          <a:stretch/>
        </p:blipFill>
        <p:spPr>
          <a:xfrm>
            <a:off x="891720" y="2080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4"/>
          <p:cNvSpPr/>
          <p:nvPr/>
        </p:nvSpPr>
        <p:spPr>
          <a:xfrm>
            <a:off x="768240" y="256032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Múltiplos fornecedores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768240" y="2907720"/>
            <a:ext cx="308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Troque de provedor de IA (Anthropic, OpenAI e outros) sem refazer nada — sem depender de um único fornecedor.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6"/>
          <p:cNvSpPr/>
          <p:nvPr/>
        </p:nvSpPr>
        <p:spPr>
          <a:xfrm>
            <a:off x="4288680" y="173736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1F3B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4507920" y="1956960"/>
            <a:ext cx="475200" cy="475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1" descr="/tmp/claude-1000/-home-shadowwhiteg-Downloads-Orquestrador-de-agentes/ae68fd12-d51b-469f-a867-73644c1df49b/scratchpad/pptx/icons/refresh_white.png"/>
          <p:cNvPicPr/>
          <p:nvPr/>
        </p:nvPicPr>
        <p:blipFill>
          <a:blip r:embed="rId2"/>
          <a:stretch/>
        </p:blipFill>
        <p:spPr>
          <a:xfrm>
            <a:off x="4631760" y="2080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8"/>
          <p:cNvSpPr/>
          <p:nvPr/>
        </p:nvSpPr>
        <p:spPr>
          <a:xfrm>
            <a:off x="4507920" y="256032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Nunca fica fora do ar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4507920" y="2907720"/>
            <a:ext cx="308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Se um modelo falhar ou ficar lento, outro assume automaticamente, na mesma resposta.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8028360" y="173736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1F3B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8247960" y="1956960"/>
            <a:ext cx="475200" cy="475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2" descr="/tmp/claude-1000/-home-shadowwhiteg-Downloads-Orquestrador-de-agentes/ae68fd12-d51b-469f-a867-73644c1df49b/scratchpad/pptx/icons/link_white.png"/>
          <p:cNvPicPr/>
          <p:nvPr/>
        </p:nvPicPr>
        <p:blipFill>
          <a:blip r:embed="rId3"/>
          <a:stretch/>
        </p:blipFill>
        <p:spPr>
          <a:xfrm>
            <a:off x="8371440" y="2080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12"/>
          <p:cNvSpPr/>
          <p:nvPr/>
        </p:nvSpPr>
        <p:spPr>
          <a:xfrm>
            <a:off x="8247960" y="256032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Conecta com o que já existe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3"/>
          <p:cNvSpPr/>
          <p:nvPr/>
        </p:nvSpPr>
        <p:spPr>
          <a:xfrm>
            <a:off x="8247960" y="2907720"/>
            <a:ext cx="308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Fala o mesmo idioma da maioria dos sistemas de IA do mercado — plugue e use.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4"/>
          <p:cNvSpPr/>
          <p:nvPr/>
        </p:nvSpPr>
        <p:spPr>
          <a:xfrm>
            <a:off x="548640" y="410580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1F3B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5"/>
          <p:cNvSpPr/>
          <p:nvPr/>
        </p:nvSpPr>
        <p:spPr>
          <a:xfrm>
            <a:off x="768240" y="4325040"/>
            <a:ext cx="475200" cy="475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3" descr="/tmp/claude-1000/-home-shadowwhiteg-Downloads-Orquestrador-de-agentes/ae68fd12-d51b-469f-a867-73644c1df49b/scratchpad/pptx/icons/lock_white.png"/>
          <p:cNvPicPr/>
          <p:nvPr/>
        </p:nvPicPr>
        <p:blipFill>
          <a:blip r:embed="rId4"/>
          <a:stretch/>
        </p:blipFill>
        <p:spPr>
          <a:xfrm>
            <a:off x="891720" y="44488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16"/>
          <p:cNvSpPr/>
          <p:nvPr/>
        </p:nvSpPr>
        <p:spPr>
          <a:xfrm>
            <a:off x="768240" y="492876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Acesso sob controle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768240" y="5276160"/>
            <a:ext cx="308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Cada pessoa vê e faz só o que o seu papel permite; credenciais nunca ficam expostas.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8"/>
          <p:cNvSpPr/>
          <p:nvPr/>
        </p:nvSpPr>
        <p:spPr>
          <a:xfrm>
            <a:off x="4288680" y="410580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1F3B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9"/>
          <p:cNvSpPr/>
          <p:nvPr/>
        </p:nvSpPr>
        <p:spPr>
          <a:xfrm>
            <a:off x="4507920" y="4325040"/>
            <a:ext cx="475200" cy="475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4" descr="/tmp/claude-1000/-home-shadowwhiteg-Downloads-Orquestrador-de-agentes/ae68fd12-d51b-469f-a867-73644c1df49b/scratchpad/pptx/icons/eye_white.png"/>
          <p:cNvPicPr/>
          <p:nvPr/>
        </p:nvPicPr>
        <p:blipFill>
          <a:blip r:embed="rId5"/>
          <a:stretch/>
        </p:blipFill>
        <p:spPr>
          <a:xfrm>
            <a:off x="4631760" y="44488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20"/>
          <p:cNvSpPr/>
          <p:nvPr/>
        </p:nvSpPr>
        <p:spPr>
          <a:xfrm>
            <a:off x="4507920" y="492876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Histórico de tudo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4507920" y="5276160"/>
            <a:ext cx="308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Cada execução, decisão e custo fica registrado — nada acontece na caixa-preta.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2"/>
          <p:cNvSpPr/>
          <p:nvPr/>
        </p:nvSpPr>
        <p:spPr>
          <a:xfrm>
            <a:off x="8028360" y="4105800"/>
            <a:ext cx="3520080" cy="214848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1F3B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3"/>
          <p:cNvSpPr/>
          <p:nvPr/>
        </p:nvSpPr>
        <p:spPr>
          <a:xfrm>
            <a:off x="8247960" y="4325040"/>
            <a:ext cx="475200" cy="4752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5" descr="/tmp/claude-1000/-home-shadowwhiteg-Downloads-Orquestrador-de-agentes/ae68fd12-d51b-469f-a867-73644c1df49b/scratchpad/pptx/icons/book_white.png"/>
          <p:cNvPicPr/>
          <p:nvPr/>
        </p:nvPicPr>
        <p:blipFill>
          <a:blip r:embed="rId6"/>
          <a:stretch/>
        </p:blipFill>
        <p:spPr>
          <a:xfrm>
            <a:off x="8371440" y="44488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24"/>
          <p:cNvSpPr/>
          <p:nvPr/>
        </p:nvSpPr>
        <p:spPr>
          <a:xfrm>
            <a:off x="8247960" y="492876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Fácil de adotar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8247960" y="5276160"/>
            <a:ext cx="308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Tutorial guiado dentro da própria plataforma leva o time do zero à primeira automação.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6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04 · Capacidades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7"/>
          <p:cNvSpPr/>
          <p:nvPr/>
        </p:nvSpPr>
        <p:spPr>
          <a:xfrm>
            <a:off x="7985520" y="6473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Orquestrador de Agentes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548640" y="5029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Confiabilidade que não depende de sorte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548640" y="1188720"/>
            <a:ext cx="9600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Modelos de IA falham, ficam lentos ou saem do ar. A plataforma já espera por isso.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548640" y="2148840"/>
            <a:ext cx="3382920" cy="1965600"/>
          </a:xfrm>
          <a:prstGeom prst="roundRect">
            <a:avLst>
              <a:gd name="adj" fmla="val 5581"/>
            </a:avLst>
          </a:prstGeom>
          <a:solidFill>
            <a:srgbClr val="262F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548640" y="2331720"/>
            <a:ext cx="3382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8FA6FF"/>
                </a:solidFill>
                <a:effectLst/>
                <a:uFillTx/>
                <a:latin typeface="Cambria"/>
                <a:ea typeface="Cambria"/>
              </a:rPr>
              <a:t>1º</a:t>
            </a:r>
            <a:endParaRPr lang="pt-BR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822960" y="342900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modelo tenta responder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5"/>
          <p:cNvSpPr/>
          <p:nvPr/>
        </p:nvSpPr>
        <p:spPr>
          <a:xfrm>
            <a:off x="4251960" y="2148840"/>
            <a:ext cx="3382920" cy="1965600"/>
          </a:xfrm>
          <a:prstGeom prst="roundRect">
            <a:avLst>
              <a:gd name="adj" fmla="val 5581"/>
            </a:avLst>
          </a:prstGeom>
          <a:solidFill>
            <a:srgbClr val="262F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4251960" y="2331720"/>
            <a:ext cx="3382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8FA6FF"/>
                </a:solidFill>
                <a:effectLst/>
                <a:uFillTx/>
                <a:latin typeface="Cambria"/>
                <a:ea typeface="Cambria"/>
              </a:rPr>
              <a:t>2º</a:t>
            </a:r>
            <a:endParaRPr lang="pt-BR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4526280" y="342900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assume se o 1º falhar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8"/>
          <p:cNvSpPr/>
          <p:nvPr/>
        </p:nvSpPr>
        <p:spPr>
          <a:xfrm>
            <a:off x="7955280" y="2148840"/>
            <a:ext cx="3382920" cy="1965600"/>
          </a:xfrm>
          <a:prstGeom prst="roundRect">
            <a:avLst>
              <a:gd name="adj" fmla="val 5581"/>
            </a:avLst>
          </a:prstGeom>
          <a:solidFill>
            <a:srgbClr val="262F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7955280" y="2331720"/>
            <a:ext cx="3382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8FA6FF"/>
                </a:solidFill>
                <a:effectLst/>
                <a:uFillTx/>
                <a:latin typeface="Cambria"/>
                <a:ea typeface="Cambria"/>
              </a:rPr>
              <a:t>0</a:t>
            </a:r>
            <a:endParaRPr lang="pt-BR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8229600" y="342900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interrupções percebidas pelo cliente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1"/>
          <p:cNvSpPr/>
          <p:nvPr/>
        </p:nvSpPr>
        <p:spPr>
          <a:xfrm>
            <a:off x="548640" y="4526280"/>
            <a:ext cx="11063880" cy="1416960"/>
          </a:xfrm>
          <a:prstGeom prst="roundRect">
            <a:avLst>
              <a:gd name="adj" fmla="val 7742"/>
            </a:avLst>
          </a:prstGeom>
          <a:solidFill>
            <a:srgbClr val="141B4D"/>
          </a:solidFill>
          <a:ln w="12700">
            <a:solidFill>
              <a:srgbClr val="2B35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2"/>
          <p:cNvSpPr/>
          <p:nvPr/>
        </p:nvSpPr>
        <p:spPr>
          <a:xfrm>
            <a:off x="868680" y="4864680"/>
            <a:ext cx="639720" cy="63972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0" descr="/tmp/claude-1000/-home-shadowwhiteg-Downloads-Orquestrador-de-agentes/ae68fd12-d51b-469f-a867-73644c1df49b/scratchpad/pptx/icons/activity_white.png"/>
          <p:cNvPicPr/>
          <p:nvPr/>
        </p:nvPicPr>
        <p:blipFill>
          <a:blip r:embed="rId1"/>
          <a:stretch/>
        </p:blipFill>
        <p:spPr>
          <a:xfrm>
            <a:off x="1035000" y="5031000"/>
            <a:ext cx="306720" cy="30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13"/>
          <p:cNvSpPr/>
          <p:nvPr/>
        </p:nvSpPr>
        <p:spPr>
          <a:xfrm>
            <a:off x="1691640" y="4526280"/>
            <a:ext cx="96008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troca de modelo acontece dentro da própria resposta, sem o usuário perceber — e cada tentativa fica registrada no histórico, com o motivo da troca.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3C4"/>
                </a:solidFill>
                <a:effectLst/>
                <a:uFillTx/>
                <a:latin typeface="Calibri"/>
                <a:ea typeface="Calibri"/>
              </a:rPr>
              <a:t>05 · Confiabilidade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7985520" y="6473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3C4"/>
                </a:solidFill>
                <a:effectLst/>
                <a:uFillTx/>
                <a:latin typeface="Calibri"/>
                <a:ea typeface="Calibri"/>
              </a:rPr>
              <a:t>Orquestrador de Agentes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4864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Conecta com qualquer sistema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548640" y="105156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A plataforma fala o padrão mais usado do mundo para automação com IA — integrar é só apontar o endereço.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206240" y="3794760"/>
            <a:ext cx="1554120" cy="15541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0" descr="/tmp/claude-1000/-home-shadowwhiteg-Downloads-Orquestrador-de-agentes/ae68fd12-d51b-469f-a867-73644c1df49b/scratchpad/pptx/icons/network_white.png"/>
          <p:cNvPicPr/>
          <p:nvPr/>
        </p:nvPicPr>
        <p:blipFill>
          <a:blip r:embed="rId1"/>
          <a:stretch/>
        </p:blipFill>
        <p:spPr>
          <a:xfrm>
            <a:off x="4590360" y="4178880"/>
            <a:ext cx="785880" cy="7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3"/>
          <p:cNvSpPr/>
          <p:nvPr/>
        </p:nvSpPr>
        <p:spPr>
          <a:xfrm>
            <a:off x="3657600" y="542232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Seus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Orquestradores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4"/>
          <p:cNvSpPr/>
          <p:nvPr/>
        </p:nvSpPr>
        <p:spPr>
          <a:xfrm flipV="1">
            <a:off x="4983480" y="2194560"/>
            <a:ext cx="2514600" cy="2377440"/>
          </a:xfrm>
          <a:prstGeom prst="line">
            <a:avLst/>
          </a:prstGeom>
          <a:ln w="19050">
            <a:solidFill>
              <a:srgbClr val="CFD6E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5"/>
          <p:cNvSpPr/>
          <p:nvPr/>
        </p:nvSpPr>
        <p:spPr>
          <a:xfrm flipV="1">
            <a:off x="4983480" y="4297680"/>
            <a:ext cx="2971800" cy="274320"/>
          </a:xfrm>
          <a:prstGeom prst="line">
            <a:avLst/>
          </a:prstGeom>
          <a:ln w="19050">
            <a:solidFill>
              <a:srgbClr val="CFD6E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6"/>
          <p:cNvSpPr/>
          <p:nvPr/>
        </p:nvSpPr>
        <p:spPr>
          <a:xfrm>
            <a:off x="4983480" y="4572000"/>
            <a:ext cx="2240280" cy="1691640"/>
          </a:xfrm>
          <a:prstGeom prst="line">
            <a:avLst/>
          </a:prstGeom>
          <a:ln w="19050">
            <a:solidFill>
              <a:srgbClr val="CFD6E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7"/>
          <p:cNvSpPr/>
          <p:nvPr/>
        </p:nvSpPr>
        <p:spPr>
          <a:xfrm flipV="1">
            <a:off x="1828800" y="4572000"/>
            <a:ext cx="3154680" cy="1234440"/>
          </a:xfrm>
          <a:prstGeom prst="line">
            <a:avLst/>
          </a:prstGeom>
          <a:ln w="19050">
            <a:solidFill>
              <a:srgbClr val="CFD6E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8"/>
          <p:cNvSpPr/>
          <p:nvPr/>
        </p:nvSpPr>
        <p:spPr>
          <a:xfrm>
            <a:off x="1645920" y="2606040"/>
            <a:ext cx="3337560" cy="1965960"/>
          </a:xfrm>
          <a:prstGeom prst="line">
            <a:avLst/>
          </a:prstGeom>
          <a:ln w="19050">
            <a:solidFill>
              <a:srgbClr val="CFD6E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>
            <a:off x="7040880" y="1737360"/>
            <a:ext cx="914040" cy="91404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1" descr="/tmp/claude-1000/-home-shadowwhiteg-Downloads-Orquestrador-de-agentes/ae68fd12-d51b-469f-a867-73644c1df49b/scratchpad/pptx/icons/message_white.png"/>
          <p:cNvPicPr/>
          <p:nvPr/>
        </p:nvPicPr>
        <p:blipFill>
          <a:blip r:embed="rId2"/>
          <a:stretch/>
        </p:blipFill>
        <p:spPr>
          <a:xfrm>
            <a:off x="7260480" y="195696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Shape 10"/>
          <p:cNvSpPr/>
          <p:nvPr/>
        </p:nvSpPr>
        <p:spPr>
          <a:xfrm>
            <a:off x="7498080" y="3840480"/>
            <a:ext cx="914040" cy="91404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2" descr="/tmp/claude-1000/-home-shadowwhiteg-Downloads-Orquestrador-de-agentes/ae68fd12-d51b-469f-a867-73644c1df49b/scratchpad/pptx/icons/grid_white.png"/>
          <p:cNvPicPr/>
          <p:nvPr/>
        </p:nvPicPr>
        <p:blipFill>
          <a:blip r:embed="rId3"/>
          <a:stretch/>
        </p:blipFill>
        <p:spPr>
          <a:xfrm>
            <a:off x="7717680" y="406008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Shape 11"/>
          <p:cNvSpPr/>
          <p:nvPr/>
        </p:nvSpPr>
        <p:spPr>
          <a:xfrm>
            <a:off x="6766560" y="5806440"/>
            <a:ext cx="914040" cy="91404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3" descr="/tmp/claude-1000/-home-shadowwhiteg-Downloads-Orquestrador-de-agentes/ae68fd12-d51b-469f-a867-73644c1df49b/scratchpad/pptx/icons/database_white.png"/>
          <p:cNvPicPr/>
          <p:nvPr/>
        </p:nvPicPr>
        <p:blipFill>
          <a:blip r:embed="rId4"/>
          <a:stretch/>
        </p:blipFill>
        <p:spPr>
          <a:xfrm>
            <a:off x="6986160" y="60260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Shape 12"/>
          <p:cNvSpPr/>
          <p:nvPr/>
        </p:nvSpPr>
        <p:spPr>
          <a:xfrm>
            <a:off x="1371600" y="5349240"/>
            <a:ext cx="914040" cy="91404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Image 4" descr="/tmp/claude-1000/-home-shadowwhiteg-Downloads-Orquestrador-de-agentes/ae68fd12-d51b-469f-a867-73644c1df49b/scratchpad/pptx/icons/headset_white.png"/>
          <p:cNvPicPr/>
          <p:nvPr/>
        </p:nvPicPr>
        <p:blipFill>
          <a:blip r:embed="rId5"/>
          <a:stretch/>
        </p:blipFill>
        <p:spPr>
          <a:xfrm>
            <a:off x="1591200" y="55688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Shape 13"/>
          <p:cNvSpPr/>
          <p:nvPr/>
        </p:nvSpPr>
        <p:spPr>
          <a:xfrm>
            <a:off x="1188720" y="2148840"/>
            <a:ext cx="914040" cy="91404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5" descr="/tmp/claude-1000/-home-shadowwhiteg-Downloads-Orquestrador-de-agentes/ae68fd12-d51b-469f-a867-73644c1df49b/scratchpad/pptx/icons/cpu_white.png"/>
          <p:cNvPicPr/>
          <p:nvPr/>
        </p:nvPicPr>
        <p:blipFill>
          <a:blip r:embed="rId6"/>
          <a:stretch/>
        </p:blipFill>
        <p:spPr>
          <a:xfrm>
            <a:off x="1408320" y="23684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Shape 14"/>
          <p:cNvSpPr/>
          <p:nvPr/>
        </p:nvSpPr>
        <p:spPr>
          <a:xfrm>
            <a:off x="8503920" y="1691640"/>
            <a:ext cx="200880" cy="20088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5"/>
          <p:cNvSpPr/>
          <p:nvPr/>
        </p:nvSpPr>
        <p:spPr>
          <a:xfrm>
            <a:off x="8823960" y="160020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Chatbots e WhatsApp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6"/>
          <p:cNvSpPr/>
          <p:nvPr/>
        </p:nvSpPr>
        <p:spPr>
          <a:xfrm>
            <a:off x="8503920" y="2606040"/>
            <a:ext cx="200880" cy="20088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7"/>
          <p:cNvSpPr/>
          <p:nvPr/>
        </p:nvSpPr>
        <p:spPr>
          <a:xfrm>
            <a:off x="8823960" y="251460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Automação de processos (n8n, Zapier)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8"/>
          <p:cNvSpPr/>
          <p:nvPr/>
        </p:nvSpPr>
        <p:spPr>
          <a:xfrm>
            <a:off x="8503920" y="3520440"/>
            <a:ext cx="200880" cy="20088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9"/>
          <p:cNvSpPr/>
          <p:nvPr/>
        </p:nvSpPr>
        <p:spPr>
          <a:xfrm>
            <a:off x="8823960" y="342900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CRM e sistemas internos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0"/>
          <p:cNvSpPr/>
          <p:nvPr/>
        </p:nvSpPr>
        <p:spPr>
          <a:xfrm>
            <a:off x="8503920" y="4434840"/>
            <a:ext cx="200880" cy="20088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1"/>
          <p:cNvSpPr/>
          <p:nvPr/>
        </p:nvSpPr>
        <p:spPr>
          <a:xfrm>
            <a:off x="8823960" y="434340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Centrais de atendimento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2"/>
          <p:cNvSpPr/>
          <p:nvPr/>
        </p:nvSpPr>
        <p:spPr>
          <a:xfrm>
            <a:off x="8503920" y="5349240"/>
            <a:ext cx="200880" cy="20088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3"/>
          <p:cNvSpPr/>
          <p:nvPr/>
        </p:nvSpPr>
        <p:spPr>
          <a:xfrm>
            <a:off x="8823960" y="525780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Assistentes de IA de terceiros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4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06 · Integração universal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5"/>
          <p:cNvSpPr/>
          <p:nvPr/>
        </p:nvSpPr>
        <p:spPr>
          <a:xfrm>
            <a:off x="7985520" y="6473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Orquestrador de Agentes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548640" y="4572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Segurança e governança, por padrão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548640" y="105156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Nada aqui foi deixado para depois: controle de acesso, criptografia e auditoria já vêm prontos.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548640" y="1920240"/>
            <a:ext cx="11063880" cy="886680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1B1F3B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777240" y="2066400"/>
            <a:ext cx="594000" cy="594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0" descr="/tmp/claude-1000/-home-shadowwhiteg-Downloads-Orquestrador-de-agentes/ae68fd12-d51b-469f-a867-73644c1df49b/scratchpad/pptx/icons/users_white.png"/>
          <p:cNvPicPr/>
          <p:nvPr/>
        </p:nvPicPr>
        <p:blipFill>
          <a:blip r:embed="rId1"/>
          <a:stretch/>
        </p:blipFill>
        <p:spPr>
          <a:xfrm>
            <a:off x="931680" y="2221200"/>
            <a:ext cx="284760" cy="2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4"/>
          <p:cNvSpPr/>
          <p:nvPr/>
        </p:nvSpPr>
        <p:spPr>
          <a:xfrm>
            <a:off x="1554480" y="1920240"/>
            <a:ext cx="28342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Papéis bem definidos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4480560" y="1920240"/>
            <a:ext cx="690336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Administrador, editor e leitor — cada pessoa só acessa e altera o que faz sentido para sua função.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548640" y="2971800"/>
            <a:ext cx="11063880" cy="886680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1B1F3B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7"/>
          <p:cNvSpPr/>
          <p:nvPr/>
        </p:nvSpPr>
        <p:spPr>
          <a:xfrm>
            <a:off x="777240" y="3117960"/>
            <a:ext cx="594000" cy="594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1" descr="/tmp/claude-1000/-home-shadowwhiteg-Downloads-Orquestrador-de-agentes/ae68fd12-d51b-469f-a867-73644c1df49b/scratchpad/pptx/icons/key_white.png"/>
          <p:cNvPicPr/>
          <p:nvPr/>
        </p:nvPicPr>
        <p:blipFill>
          <a:blip r:embed="rId2"/>
          <a:stretch/>
        </p:blipFill>
        <p:spPr>
          <a:xfrm>
            <a:off x="931680" y="3272760"/>
            <a:ext cx="284760" cy="2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8"/>
          <p:cNvSpPr/>
          <p:nvPr/>
        </p:nvSpPr>
        <p:spPr>
          <a:xfrm>
            <a:off x="1554480" y="2971800"/>
            <a:ext cx="28342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Credenciais nunca expostas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4480560" y="2971800"/>
            <a:ext cx="690336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Chaves de acesso a provedores de IA são cifradas e jamais aparecem em telas, relatórios ou mensagens de erro.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548640" y="4023360"/>
            <a:ext cx="11063880" cy="886680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1B1F3B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777240" y="4169520"/>
            <a:ext cx="594000" cy="594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2" descr="/tmp/claude-1000/-home-shadowwhiteg-Downloads-Orquestrador-de-agentes/ae68fd12-d51b-469f-a867-73644c1df49b/scratchpad/pptx/icons/eye_white.png"/>
          <p:cNvPicPr/>
          <p:nvPr/>
        </p:nvPicPr>
        <p:blipFill>
          <a:blip r:embed="rId3"/>
          <a:stretch/>
        </p:blipFill>
        <p:spPr>
          <a:xfrm>
            <a:off x="931680" y="4324320"/>
            <a:ext cx="284760" cy="2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12"/>
          <p:cNvSpPr/>
          <p:nvPr/>
        </p:nvSpPr>
        <p:spPr>
          <a:xfrm>
            <a:off x="1554480" y="4023360"/>
            <a:ext cx="28342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Auditoria completa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4480560" y="4023360"/>
            <a:ext cx="690336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Todo login, criação de usuário e alteração sensível fica registrado — quem fez, quando e o quê.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4"/>
          <p:cNvSpPr/>
          <p:nvPr/>
        </p:nvSpPr>
        <p:spPr>
          <a:xfrm>
            <a:off x="548640" y="5074920"/>
            <a:ext cx="11063880" cy="886680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1B1F3B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5"/>
          <p:cNvSpPr/>
          <p:nvPr/>
        </p:nvSpPr>
        <p:spPr>
          <a:xfrm>
            <a:off x="777240" y="5221080"/>
            <a:ext cx="594000" cy="594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3" descr="/tmp/claude-1000/-home-shadowwhiteg-Downloads-Orquestrador-de-agentes/ae68fd12-d51b-469f-a867-73644c1df49b/scratchpad/pptx/icons/check_white.png"/>
          <p:cNvPicPr/>
          <p:nvPr/>
        </p:nvPicPr>
        <p:blipFill>
          <a:blip r:embed="rId4"/>
          <a:stretch/>
        </p:blipFill>
        <p:spPr>
          <a:xfrm>
            <a:off x="931680" y="5375880"/>
            <a:ext cx="284760" cy="2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16"/>
          <p:cNvSpPr/>
          <p:nvPr/>
        </p:nvSpPr>
        <p:spPr>
          <a:xfrm>
            <a:off x="1554480" y="5074920"/>
            <a:ext cx="28342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Histórico à prova de surpresas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4480560" y="5074920"/>
            <a:ext cx="690336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Mudanças em uma automação geram uma nova versão; a versão anterior continua disponível para reverter a qualquer momento.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8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07 · Segurança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9"/>
          <p:cNvSpPr/>
          <p:nvPr/>
        </p:nvSpPr>
        <p:spPr>
          <a:xfrm>
            <a:off x="7985520" y="6473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Orquestrador de Agentes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548640" y="4572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Você vê exatamente o que a IA fez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548640" y="10515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Cada execução vira um mapa passo a passo — decisão, tempo, custo e resultado.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"/>
          <p:cNvSpPr/>
          <p:nvPr/>
        </p:nvSpPr>
        <p:spPr>
          <a:xfrm>
            <a:off x="548640" y="1965960"/>
            <a:ext cx="4205880" cy="658080"/>
          </a:xfrm>
          <a:prstGeom prst="roundRect">
            <a:avLst>
              <a:gd name="adj" fmla="val 12500"/>
            </a:avLst>
          </a:prstGeom>
          <a:solidFill>
            <a:srgbClr val="F4F6FC"/>
          </a:solidFill>
          <a:ln w="12700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777240" y="1965960"/>
            <a:ext cx="3748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Pedido recebido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2651760" y="2624040"/>
            <a:ext cx="360" cy="201240"/>
          </a:xfrm>
          <a:prstGeom prst="line">
            <a:avLst/>
          </a:prstGeom>
          <a:ln w="19050">
            <a:solidFill>
              <a:srgbClr val="AEB8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548640" y="2825640"/>
            <a:ext cx="4205880" cy="658080"/>
          </a:xfrm>
          <a:prstGeom prst="roundRect">
            <a:avLst>
              <a:gd name="adj" fmla="val 12500"/>
            </a:avLst>
          </a:prstGeom>
          <a:solidFill>
            <a:srgbClr val="F4F6FC"/>
          </a:solidFill>
          <a:ln w="12700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777240" y="2825640"/>
            <a:ext cx="3748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Orquestrador decide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7"/>
          <p:cNvSpPr/>
          <p:nvPr/>
        </p:nvSpPr>
        <p:spPr>
          <a:xfrm>
            <a:off x="2651760" y="3483720"/>
            <a:ext cx="360" cy="201240"/>
          </a:xfrm>
          <a:prstGeom prst="line">
            <a:avLst/>
          </a:prstGeom>
          <a:ln w="19050">
            <a:solidFill>
              <a:srgbClr val="AEB8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8"/>
          <p:cNvSpPr/>
          <p:nvPr/>
        </p:nvSpPr>
        <p:spPr>
          <a:xfrm>
            <a:off x="548640" y="3684960"/>
            <a:ext cx="4205880" cy="658080"/>
          </a:xfrm>
          <a:prstGeom prst="roundRect">
            <a:avLst>
              <a:gd name="adj" fmla="val 12500"/>
            </a:avLst>
          </a:prstGeom>
          <a:solidFill>
            <a:srgbClr val="F4F6FC"/>
          </a:solidFill>
          <a:ln w="12700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9"/>
          <p:cNvSpPr/>
          <p:nvPr/>
        </p:nvSpPr>
        <p:spPr>
          <a:xfrm>
            <a:off x="777240" y="3684960"/>
            <a:ext cx="3748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1F3B"/>
                </a:solidFill>
                <a:effectLst/>
                <a:uFillTx/>
                <a:latin typeface="Calibri"/>
                <a:ea typeface="Calibri"/>
              </a:rPr>
              <a:t>Agente de Suporte age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0"/>
          <p:cNvSpPr/>
          <p:nvPr/>
        </p:nvSpPr>
        <p:spPr>
          <a:xfrm>
            <a:off x="2651760" y="4343400"/>
            <a:ext cx="360" cy="200880"/>
          </a:xfrm>
          <a:prstGeom prst="line">
            <a:avLst/>
          </a:prstGeom>
          <a:ln w="19050">
            <a:solidFill>
              <a:srgbClr val="AEB8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1"/>
          <p:cNvSpPr/>
          <p:nvPr/>
        </p:nvSpPr>
        <p:spPr>
          <a:xfrm>
            <a:off x="548640" y="4544640"/>
            <a:ext cx="4205880" cy="658080"/>
          </a:xfrm>
          <a:prstGeom prst="roundRect">
            <a:avLst>
              <a:gd name="adj" fmla="val 12500"/>
            </a:avLst>
          </a:prstGeom>
          <a:solidFill>
            <a:srgbClr val="3D5AFE"/>
          </a:solidFill>
          <a:ln w="12700">
            <a:solidFill>
              <a:srgbClr val="D7DC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2"/>
          <p:cNvSpPr/>
          <p:nvPr/>
        </p:nvSpPr>
        <p:spPr>
          <a:xfrm>
            <a:off x="777240" y="4544640"/>
            <a:ext cx="3748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Resposta entregue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3"/>
          <p:cNvSpPr/>
          <p:nvPr/>
        </p:nvSpPr>
        <p:spPr>
          <a:xfrm>
            <a:off x="5486400" y="1965960"/>
            <a:ext cx="6126120" cy="118836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4"/>
          <p:cNvSpPr/>
          <p:nvPr/>
        </p:nvSpPr>
        <p:spPr>
          <a:xfrm>
            <a:off x="5760720" y="1965960"/>
            <a:ext cx="1554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100%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5"/>
          <p:cNvSpPr/>
          <p:nvPr/>
        </p:nvSpPr>
        <p:spPr>
          <a:xfrm>
            <a:off x="7406640" y="1965960"/>
            <a:ext cx="4023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das execuções registradas, sem amostragem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6"/>
          <p:cNvSpPr/>
          <p:nvPr/>
        </p:nvSpPr>
        <p:spPr>
          <a:xfrm>
            <a:off x="5486400" y="3383280"/>
            <a:ext cx="6126120" cy="118836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7"/>
          <p:cNvSpPr/>
          <p:nvPr/>
        </p:nvSpPr>
        <p:spPr>
          <a:xfrm>
            <a:off x="5760720" y="3383280"/>
            <a:ext cx="1554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R$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8"/>
          <p:cNvSpPr/>
          <p:nvPr/>
        </p:nvSpPr>
        <p:spPr>
          <a:xfrm>
            <a:off x="7406640" y="3383280"/>
            <a:ext cx="4023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custo calculado por conversa, em tempo real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9"/>
          <p:cNvSpPr/>
          <p:nvPr/>
        </p:nvSpPr>
        <p:spPr>
          <a:xfrm>
            <a:off x="5486400" y="4800600"/>
            <a:ext cx="6126120" cy="118836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0"/>
          <p:cNvSpPr/>
          <p:nvPr/>
        </p:nvSpPr>
        <p:spPr>
          <a:xfrm>
            <a:off x="5760720" y="4800600"/>
            <a:ext cx="1554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1 clique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1"/>
          <p:cNvSpPr/>
          <p:nvPr/>
        </p:nvSpPr>
        <p:spPr>
          <a:xfrm>
            <a:off x="7406640" y="4800600"/>
            <a:ext cx="4023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para abrir o motivo exato de um erro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2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08 · Visibilidade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3"/>
          <p:cNvSpPr/>
          <p:nvPr/>
        </p:nvSpPr>
        <p:spPr>
          <a:xfrm>
            <a:off x="7985520" y="6473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Orquestrador de Agentes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548640" y="45720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Onde isso gera resultado no seu negócio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"/>
          <p:cNvSpPr/>
          <p:nvPr/>
        </p:nvSpPr>
        <p:spPr>
          <a:xfrm>
            <a:off x="548640" y="1691640"/>
            <a:ext cx="2614680" cy="420588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1F3B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"/>
          <p:cNvSpPr/>
          <p:nvPr/>
        </p:nvSpPr>
        <p:spPr>
          <a:xfrm>
            <a:off x="768240" y="196596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0" descr="/tmp/claude-1000/-home-shadowwhiteg-Downloads-Orquestrador-de-agentes/ae68fd12-d51b-469f-a867-73644c1df49b/scratchpad/pptx/icons/headset_white.png"/>
          <p:cNvPicPr/>
          <p:nvPr/>
        </p:nvPicPr>
        <p:blipFill>
          <a:blip r:embed="rId1"/>
          <a:stretch/>
        </p:blipFill>
        <p:spPr>
          <a:xfrm>
            <a:off x="915480" y="21132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3"/>
          <p:cNvSpPr/>
          <p:nvPr/>
        </p:nvSpPr>
        <p:spPr>
          <a:xfrm>
            <a:off x="768240" y="2743200"/>
            <a:ext cx="2175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Atendimento ao cliente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4"/>
          <p:cNvSpPr/>
          <p:nvPr/>
        </p:nvSpPr>
        <p:spPr>
          <a:xfrm>
            <a:off x="768240" y="3474720"/>
            <a:ext cx="21758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Responde dúvidas comuns na hora e escala só o que realmente precisa de um humano.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5"/>
          <p:cNvSpPr/>
          <p:nvPr/>
        </p:nvSpPr>
        <p:spPr>
          <a:xfrm>
            <a:off x="3383280" y="1691640"/>
            <a:ext cx="2614680" cy="420588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1F3B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6"/>
          <p:cNvSpPr/>
          <p:nvPr/>
        </p:nvSpPr>
        <p:spPr>
          <a:xfrm>
            <a:off x="3602880" y="196596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4" name="Image 1" descr="/tmp/claude-1000/-home-shadowwhiteg-Downloads-Orquestrador-de-agentes/ae68fd12-d51b-469f-a867-73644c1df49b/scratchpad/pptx/icons/message_white.png"/>
          <p:cNvPicPr/>
          <p:nvPr/>
        </p:nvPicPr>
        <p:blipFill>
          <a:blip r:embed="rId2"/>
          <a:stretch/>
        </p:blipFill>
        <p:spPr>
          <a:xfrm>
            <a:off x="3750120" y="21132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 7"/>
          <p:cNvSpPr/>
          <p:nvPr/>
        </p:nvSpPr>
        <p:spPr>
          <a:xfrm>
            <a:off x="3602880" y="2743200"/>
            <a:ext cx="2175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Suporte interno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3602880" y="3474720"/>
            <a:ext cx="21758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Tira dúvidas de processos, políticas e sistemas para o próprio time, sem abrir chamado.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6217920" y="1691640"/>
            <a:ext cx="2614680" cy="420588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1F3B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0"/>
          <p:cNvSpPr/>
          <p:nvPr/>
        </p:nvSpPr>
        <p:spPr>
          <a:xfrm>
            <a:off x="6437520" y="196596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 2" descr="/tmp/claude-1000/-home-shadowwhiteg-Downloads-Orquestrador-de-agentes/ae68fd12-d51b-469f-a867-73644c1df49b/scratchpad/pptx/icons/database_white.png"/>
          <p:cNvPicPr/>
          <p:nvPr/>
        </p:nvPicPr>
        <p:blipFill>
          <a:blip r:embed="rId3"/>
          <a:stretch/>
        </p:blipFill>
        <p:spPr>
          <a:xfrm>
            <a:off x="6584760" y="21132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11"/>
          <p:cNvSpPr/>
          <p:nvPr/>
        </p:nvSpPr>
        <p:spPr>
          <a:xfrm>
            <a:off x="6437520" y="2743200"/>
            <a:ext cx="2175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Análise e pesquisa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2"/>
          <p:cNvSpPr/>
          <p:nvPr/>
        </p:nvSpPr>
        <p:spPr>
          <a:xfrm>
            <a:off x="6437520" y="3474720"/>
            <a:ext cx="21758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Cruza informações de várias fontes e entrega um resumo pronto para decisão.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3"/>
          <p:cNvSpPr/>
          <p:nvPr/>
        </p:nvSpPr>
        <p:spPr>
          <a:xfrm>
            <a:off x="9052560" y="1691640"/>
            <a:ext cx="2614680" cy="420588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1B1F3B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4"/>
          <p:cNvSpPr/>
          <p:nvPr/>
        </p:nvSpPr>
        <p:spPr>
          <a:xfrm>
            <a:off x="9272160" y="196596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3" descr="/tmp/claude-1000/-home-shadowwhiteg-Downloads-Orquestrador-de-agentes/ae68fd12-d51b-469f-a867-73644c1df49b/scratchpad/pptx/icons/zap_white.png"/>
          <p:cNvPicPr/>
          <p:nvPr/>
        </p:nvPicPr>
        <p:blipFill>
          <a:blip r:embed="rId4"/>
          <a:stretch/>
        </p:blipFill>
        <p:spPr>
          <a:xfrm>
            <a:off x="9419400" y="21132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15"/>
          <p:cNvSpPr/>
          <p:nvPr/>
        </p:nvSpPr>
        <p:spPr>
          <a:xfrm>
            <a:off x="9272160" y="2743200"/>
            <a:ext cx="2175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Processos repetitivos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6"/>
          <p:cNvSpPr/>
          <p:nvPr/>
        </p:nvSpPr>
        <p:spPr>
          <a:xfrm>
            <a:off x="9272160" y="3474720"/>
            <a:ext cx="21758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Triagem, classificação e primeira resposta de tarefas que hoje consomem horas do time.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09 · Casos de uso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8"/>
          <p:cNvSpPr/>
          <p:nvPr/>
        </p:nvSpPr>
        <p:spPr>
          <a:xfrm>
            <a:off x="7985520" y="6473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Orquestrador de Agentes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548640" y="45720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Por que isso importa para o negócio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548640" y="1600200"/>
            <a:ext cx="5303160" cy="191988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804600" y="1856160"/>
            <a:ext cx="529920" cy="52992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2" name="Image 0" descr="/tmp/claude-1000/-home-shadowwhiteg-Downloads-Orquestrador-de-agentes/ae68fd12-d51b-469f-a867-73644c1df49b/scratchpad/pptx/icons/trending_white.png"/>
          <p:cNvPicPr/>
          <p:nvPr/>
        </p:nvPicPr>
        <p:blipFill>
          <a:blip r:embed="rId1"/>
          <a:stretch/>
        </p:blipFill>
        <p:spPr>
          <a:xfrm>
            <a:off x="942480" y="1994040"/>
            <a:ext cx="2541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 3"/>
          <p:cNvSpPr/>
          <p:nvPr/>
        </p:nvSpPr>
        <p:spPr>
          <a:xfrm>
            <a:off x="1508760" y="180144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Reduz custo operacional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804600" y="2468880"/>
            <a:ext cx="47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Menos horas de trabalho manual repetitivo, mais tempo do time em decisões que importam.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"/>
          <p:cNvSpPr/>
          <p:nvPr/>
        </p:nvSpPr>
        <p:spPr>
          <a:xfrm>
            <a:off x="6309360" y="1600200"/>
            <a:ext cx="5303160" cy="191988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6"/>
          <p:cNvSpPr/>
          <p:nvPr/>
        </p:nvSpPr>
        <p:spPr>
          <a:xfrm>
            <a:off x="6565320" y="1856160"/>
            <a:ext cx="529920" cy="52992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" name="Image 1" descr="/tmp/claude-1000/-home-shadowwhiteg-Downloads-Orquestrador-de-agentes/ae68fd12-d51b-469f-a867-73644c1df49b/scratchpad/pptx/icons/gitBranch_white.png"/>
          <p:cNvPicPr/>
          <p:nvPr/>
        </p:nvPicPr>
        <p:blipFill>
          <a:blip r:embed="rId2"/>
          <a:stretch/>
        </p:blipFill>
        <p:spPr>
          <a:xfrm>
            <a:off x="6703200" y="1994040"/>
            <a:ext cx="2541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 7"/>
          <p:cNvSpPr/>
          <p:nvPr/>
        </p:nvSpPr>
        <p:spPr>
          <a:xfrm>
            <a:off x="7269480" y="180144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Escala sem contratar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8"/>
          <p:cNvSpPr/>
          <p:nvPr/>
        </p:nvSpPr>
        <p:spPr>
          <a:xfrm>
            <a:off x="6565320" y="2468880"/>
            <a:ext cx="47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Atenda picos de demanda sem aumentar equipe — os agentes trabalham em paralelo, o tempo todo.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9"/>
          <p:cNvSpPr/>
          <p:nvPr/>
        </p:nvSpPr>
        <p:spPr>
          <a:xfrm>
            <a:off x="548640" y="3840480"/>
            <a:ext cx="5303160" cy="191988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0"/>
          <p:cNvSpPr/>
          <p:nvPr/>
        </p:nvSpPr>
        <p:spPr>
          <a:xfrm>
            <a:off x="804600" y="4096440"/>
            <a:ext cx="529920" cy="52992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2" name="Image 2" descr="/tmp/claude-1000/-home-shadowwhiteg-Downloads-Orquestrador-de-agentes/ae68fd12-d51b-469f-a867-73644c1df49b/scratchpad/pptx/icons/shield_white.png"/>
          <p:cNvPicPr/>
          <p:nvPr/>
        </p:nvPicPr>
        <p:blipFill>
          <a:blip r:embed="rId3"/>
          <a:stretch/>
        </p:blipFill>
        <p:spPr>
          <a:xfrm>
            <a:off x="942480" y="4234320"/>
            <a:ext cx="2541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11"/>
          <p:cNvSpPr/>
          <p:nvPr/>
        </p:nvSpPr>
        <p:spPr>
          <a:xfrm>
            <a:off x="1508760" y="404172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Reduz risco e garante conformidade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2"/>
          <p:cNvSpPr/>
          <p:nvPr/>
        </p:nvSpPr>
        <p:spPr>
          <a:xfrm>
            <a:off x="804600" y="4709160"/>
            <a:ext cx="47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Acesso controlado, credenciais protegidas e histórico completo para auditoria e compliance.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3"/>
          <p:cNvSpPr/>
          <p:nvPr/>
        </p:nvSpPr>
        <p:spPr>
          <a:xfrm>
            <a:off x="6309360" y="3840480"/>
            <a:ext cx="5303160" cy="191988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4"/>
          <p:cNvSpPr/>
          <p:nvPr/>
        </p:nvSpPr>
        <p:spPr>
          <a:xfrm>
            <a:off x="6565320" y="4096440"/>
            <a:ext cx="529920" cy="52992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Image 3" descr="/tmp/claude-1000/-home-shadowwhiteg-Downloads-Orquestrador-de-agentes/ae68fd12-d51b-469f-a867-73644c1df49b/scratchpad/pptx/icons/award_white.png"/>
          <p:cNvPicPr/>
          <p:nvPr/>
        </p:nvPicPr>
        <p:blipFill>
          <a:blip r:embed="rId4"/>
          <a:stretch/>
        </p:blipFill>
        <p:spPr>
          <a:xfrm>
            <a:off x="6703200" y="4234320"/>
            <a:ext cx="254160" cy="2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 15"/>
          <p:cNvSpPr/>
          <p:nvPr/>
        </p:nvSpPr>
        <p:spPr>
          <a:xfrm>
            <a:off x="7269480" y="404172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3B"/>
                </a:solidFill>
                <a:effectLst/>
                <a:uFillTx/>
                <a:latin typeface="Cambria"/>
                <a:ea typeface="Cambria"/>
              </a:rPr>
              <a:t>Liberdade de fornecedor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6"/>
          <p:cNvSpPr/>
          <p:nvPr/>
        </p:nvSpPr>
        <p:spPr>
          <a:xfrm>
            <a:off x="6565320" y="4709160"/>
            <a:ext cx="47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A6280"/>
                </a:solidFill>
                <a:effectLst/>
                <a:uFillTx/>
                <a:latin typeface="Calibri"/>
                <a:ea typeface="Calibri"/>
              </a:rPr>
              <a:t>Nenhuma dependência de uma única empresa de IA — troque quando o mercado mudar, sem dor.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7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10 · Impacto no negócio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8"/>
          <p:cNvSpPr/>
          <p:nvPr/>
        </p:nvSpPr>
        <p:spPr>
          <a:xfrm>
            <a:off x="7985520" y="6473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6ADC9"/>
                </a:solidFill>
                <a:effectLst/>
                <a:uFillTx/>
                <a:latin typeface="Calibri"/>
                <a:ea typeface="Calibri"/>
              </a:rPr>
              <a:t>Orquestrador de Agentes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9784080" y="4389120"/>
            <a:ext cx="639720" cy="639720"/>
          </a:xfrm>
          <a:prstGeom prst="ellipse">
            <a:avLst/>
          </a:prstGeom>
          <a:solidFill>
            <a:srgbClr val="2B358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"/>
          <p:cNvSpPr/>
          <p:nvPr/>
        </p:nvSpPr>
        <p:spPr>
          <a:xfrm>
            <a:off x="10881360" y="5120640"/>
            <a:ext cx="365400" cy="365400"/>
          </a:xfrm>
          <a:prstGeom prst="ellipse">
            <a:avLst/>
          </a:prstGeom>
          <a:solidFill>
            <a:srgbClr val="2B358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"/>
          <p:cNvSpPr/>
          <p:nvPr/>
        </p:nvSpPr>
        <p:spPr>
          <a:xfrm>
            <a:off x="10332720" y="5852160"/>
            <a:ext cx="456840" cy="456840"/>
          </a:xfrm>
          <a:prstGeom prst="ellipse">
            <a:avLst/>
          </a:prstGeom>
          <a:solidFill>
            <a:srgbClr val="2B3585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"/>
          <p:cNvSpPr/>
          <p:nvPr/>
        </p:nvSpPr>
        <p:spPr>
          <a:xfrm>
            <a:off x="822960" y="1051560"/>
            <a:ext cx="712800" cy="71280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 0" descr="/tmp/claude-1000/-home-shadowwhiteg-Downloads-Orquestrador-de-agentes/ae68fd12-d51b-469f-a867-73644c1df49b/scratchpad/pptx/icons/clock_white.png"/>
          <p:cNvPicPr/>
          <p:nvPr/>
        </p:nvPicPr>
        <p:blipFill>
          <a:blip r:embed="rId1"/>
          <a:stretch/>
        </p:blipFill>
        <p:spPr>
          <a:xfrm>
            <a:off x="1008360" y="1236960"/>
            <a:ext cx="342000" cy="3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 4"/>
          <p:cNvSpPr/>
          <p:nvPr/>
        </p:nvSpPr>
        <p:spPr>
          <a:xfrm>
            <a:off x="1691640" y="10789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PRÓXIMO PASSO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822960" y="228600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Pronto para testar com o seu time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6"/>
          <p:cNvSpPr/>
          <p:nvPr/>
        </p:nvSpPr>
        <p:spPr>
          <a:xfrm>
            <a:off x="822960" y="3337560"/>
            <a:ext cx="8960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 ambiente já está no ar. O caminho recomendado é simples: conectar um provedor de IA, montar o primeiro time de agentes e acompanhar a primeira execução ao vivo — com o tutorial guiado passo a passo dentro da própria plataforma.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7"/>
          <p:cNvSpPr/>
          <p:nvPr/>
        </p:nvSpPr>
        <p:spPr>
          <a:xfrm>
            <a:off x="822960" y="4892040"/>
            <a:ext cx="365400" cy="36540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822960" y="4892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9"/>
          <p:cNvSpPr/>
          <p:nvPr/>
        </p:nvSpPr>
        <p:spPr>
          <a:xfrm>
            <a:off x="1325880" y="48736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Conectar um provedor de IA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0"/>
          <p:cNvSpPr/>
          <p:nvPr/>
        </p:nvSpPr>
        <p:spPr>
          <a:xfrm>
            <a:off x="822960" y="5422320"/>
            <a:ext cx="365400" cy="36540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822960" y="54223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2"/>
          <p:cNvSpPr/>
          <p:nvPr/>
        </p:nvSpPr>
        <p:spPr>
          <a:xfrm>
            <a:off x="1325880" y="5403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Criar o primeiro time de agentes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3"/>
          <p:cNvSpPr/>
          <p:nvPr/>
        </p:nvSpPr>
        <p:spPr>
          <a:xfrm>
            <a:off x="822960" y="5952600"/>
            <a:ext cx="365400" cy="365400"/>
          </a:xfrm>
          <a:prstGeom prst="ellipse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4"/>
          <p:cNvSpPr/>
          <p:nvPr/>
        </p:nvSpPr>
        <p:spPr>
          <a:xfrm>
            <a:off x="822960" y="59526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5"/>
          <p:cNvSpPr/>
          <p:nvPr/>
        </p:nvSpPr>
        <p:spPr>
          <a:xfrm>
            <a:off x="1325880" y="59346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Acompanhar a execução em tempo real</a:t>
            </a:r>
            <a:endParaRPr lang="pt-B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LibreOffice/26.2.5.2$Linux_X86_64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2026-08-16T20:09:18Z</dcterms:created>
  <dc:creator>PptxGenJS</dc:creator>
  <dc:description/>
  <dc:language>pt-BR</dc:language>
  <cp:lastModifiedBy/>
  <dcterms:modified xsi:type="dcterms:W3CDTF">2026-08-16T17:20:33Z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